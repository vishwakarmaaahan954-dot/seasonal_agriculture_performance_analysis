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6" r:id="rId11"/>
    <p:sldId id="345" r:id="rId12"/>
    <p:sldId id="344" r:id="rId13"/>
    <p:sldId id="340"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2" d="100"/>
          <a:sy n="92" d="100"/>
        </p:scale>
        <p:origin x="163"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7031281" cy="861497"/>
          </a:xfrm>
        </p:spPr>
        <p:txBody>
          <a:bodyPr vert="horz" lIns="91440" tIns="45720" rIns="91440" bIns="45720" rtlCol="0" anchor="t">
            <a:normAutofit/>
          </a:bodyPr>
          <a:lstStyle/>
          <a:p>
            <a:pPr algn="r"/>
            <a:r>
              <a:rPr lang="en-IN" b="0" dirty="0">
                <a:solidFill>
                  <a:schemeClr val="tx1"/>
                </a:solidFill>
              </a:rPr>
              <a:t>Presented by – Aahan Vishwakarma</a:t>
            </a:r>
          </a:p>
          <a:p>
            <a:pPr algn="r"/>
            <a:r>
              <a:rPr lang="en-IN" b="0" dirty="0">
                <a:solidFill>
                  <a:schemeClr val="tx1"/>
                </a:solidFill>
              </a:rPr>
              <a:t>College – JSS Academy of technical education</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6686712" cy="743448"/>
          </a:xfrm>
        </p:spPr>
        <p:txBody>
          <a:bodyPr>
            <a:normAutofit fontScale="90000"/>
          </a:bodyPr>
          <a:lstStyle/>
          <a:p>
            <a:r>
              <a:rPr lang="en-IN" dirty="0"/>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5" y="4576469"/>
            <a:ext cx="5850719" cy="369332"/>
          </a:xfrm>
          <a:prstGeom prst="rect">
            <a:avLst/>
          </a:prstGeom>
          <a:noFill/>
        </p:spPr>
        <p:txBody>
          <a:bodyPr wrap="square" rtlCol="0">
            <a:spAutoFit/>
          </a:bodyPr>
          <a:lstStyle/>
          <a:p>
            <a:pPr algn="r"/>
            <a:r>
              <a:rPr lang="en-US" b="1" dirty="0"/>
              <a:t>AICTE STU ID :</a:t>
            </a:r>
            <a:r>
              <a:rPr lang="en-IN" dirty="0"/>
              <a:t> STU6a328c8ef379b1781697678</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92500" lnSpcReduction="20000"/>
          </a:bodyPr>
          <a:lstStyle/>
          <a:p>
            <a:r>
              <a:rPr lang="en-IN" dirty="0"/>
              <a:t>Agricultural activities are deeply influenced by seasonal variations in environmental conditions, farming practices, resource availability, and market conditions. As a result, agricultural performance differs significantly from one season to another.</a:t>
            </a:r>
          </a:p>
          <a:p>
            <a:r>
              <a:rPr lang="en-IN" dirty="0"/>
              <a:t>However, raw agricultural data does not clearly explain </a:t>
            </a:r>
            <a:r>
              <a:rPr lang="en-IN" b="1" dirty="0"/>
              <a:t>how</a:t>
            </a:r>
            <a:r>
              <a:rPr lang="en-IN" dirty="0"/>
              <a:t> agricultural performance changes across seasons or what patterns can be observed under different seasonal conditions.</a:t>
            </a:r>
          </a:p>
          <a:p>
            <a:r>
              <a:rPr lang="en-IN" b="1" dirty="0"/>
              <a:t>The Objective:</a:t>
            </a:r>
            <a:r>
              <a:rPr lang="en-IN" dirty="0"/>
              <a:t> </a:t>
            </a:r>
            <a:r>
              <a:rPr lang="en-IN" dirty="0" err="1"/>
              <a:t>Analyze</a:t>
            </a:r>
            <a:r>
              <a:rPr lang="en-IN" dirty="0"/>
              <a:t> the provided dataset and investigate seasonal differences in agricultural performance by identifying meaningful patterns, trends, relationships, and variations</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68959" y="397889"/>
            <a:ext cx="6276109" cy="830997"/>
          </a:xfrm>
        </p:spPr>
        <p:txBody>
          <a:bodyPr>
            <a:noAutofit/>
          </a:bodyPr>
          <a:lstStyle/>
          <a:p>
            <a:r>
              <a:rPr lang="en-GB" sz="3200" u="sng" dirty="0"/>
              <a:t>Project Description</a:t>
            </a:r>
            <a:br>
              <a:rPr lang="en-GB" sz="3200" dirty="0"/>
            </a:br>
            <a:br>
              <a:rPr lang="en-GB" sz="2000" dirty="0"/>
            </a:br>
            <a:r>
              <a:rPr lang="en-IN" sz="2400" dirty="0"/>
              <a:t>Data-Driven Farming Insights</a:t>
            </a:r>
            <a:br>
              <a:rPr lang="en-IN" sz="2400" dirty="0"/>
            </a:br>
            <a:br>
              <a:rPr lang="en-IN" sz="2000" dirty="0"/>
            </a:br>
            <a:r>
              <a:rPr lang="en-IN" sz="2000" b="0" dirty="0"/>
              <a:t>This project is based on the requirements defined in </a:t>
            </a:r>
            <a:r>
              <a:rPr lang="en-IN" sz="2000" b="0" i="1" dirty="0"/>
              <a:t>"Major Project Seasonal Agriculture Performance Analysis "</a:t>
            </a:r>
            <a:r>
              <a:rPr lang="en-IN" sz="2000" b="0" dirty="0"/>
              <a:t> and utilizes the </a:t>
            </a:r>
            <a:r>
              <a:rPr lang="en-IN" sz="2000" b="0" i="1" dirty="0"/>
              <a:t>"seasonal agriculture performance dataset"</a:t>
            </a:r>
            <a:r>
              <a:rPr lang="en-IN" sz="2000" b="0" dirty="0"/>
              <a:t>.</a:t>
            </a:r>
            <a:br>
              <a:rPr lang="en-IN" sz="2000" b="0" dirty="0"/>
            </a:br>
            <a:r>
              <a:rPr lang="en-IN" sz="2000" b="0" dirty="0"/>
              <a:t>The dataset represents agricultural activities across different seasons, geographical areas, and farming conditions. It tracks resource usage, environmental factors, and economic performance.</a:t>
            </a:r>
            <a:br>
              <a:rPr lang="en-IN" sz="2000" b="0" dirty="0"/>
            </a:br>
            <a:r>
              <a:rPr lang="en-IN" sz="2000" b="0" dirty="0"/>
              <a:t>By performing comprehensive data cleaning, exploratory data analysis (EDA), and statistical comparisons, this project aims to support evidence-based agricultural planning and identify significant areas requiring further investigation.</a:t>
            </a:r>
            <a:br>
              <a:rPr lang="en-IN" sz="2000" b="0" dirty="0"/>
            </a:br>
            <a:endParaRPr lang="en-IN" sz="2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r>
              <a:rPr lang="en-IN" b="1" dirty="0"/>
              <a:t>Farmers &amp; Agronomists.</a:t>
            </a:r>
            <a:r>
              <a:rPr lang="en-IN" dirty="0"/>
              <a:t> Leveraging seasonal insights to optimize resource allocation, planting schedules, and crop rotation strategies for maximum yield.</a:t>
            </a:r>
          </a:p>
          <a:p>
            <a:r>
              <a:rPr lang="en-IN" b="1" dirty="0"/>
              <a:t>Agricultural Planners - </a:t>
            </a:r>
            <a:r>
              <a:rPr lang="en-IN" dirty="0"/>
              <a:t>Utilizing data trends to support evidence-based regional planning, supply chain management, and sustainable farming initiatives.</a:t>
            </a:r>
          </a:p>
          <a:p>
            <a:r>
              <a:rPr lang="en-IN" b="1" dirty="0"/>
              <a:t>Gov. Policymakers - </a:t>
            </a:r>
            <a:r>
              <a:rPr lang="en-IN" dirty="0"/>
              <a:t>Understanding changing environmental conditions to frame better agricultural policies and provide targeted subsidies based on seasonal performance.</a:t>
            </a:r>
          </a:p>
          <a:p>
            <a:pPr marL="0" indent="0">
              <a:buNone/>
            </a:pPr>
            <a:endParaRPr lang="en-IN" b="1" dirty="0"/>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246961"/>
            <a:ext cx="9027702" cy="5243448"/>
          </a:xfrm>
        </p:spPr>
        <p:txBody>
          <a:bodyPr/>
          <a:lstStyle/>
          <a:p>
            <a:pPr lvl="0"/>
            <a:r>
              <a:rPr lang="en-IN" b="1" dirty="0"/>
              <a:t>Python 3.x</a:t>
            </a:r>
            <a:r>
              <a:rPr lang="en-IN" dirty="0"/>
              <a:t> - Core programming language</a:t>
            </a:r>
          </a:p>
          <a:p>
            <a:pPr lvl="0"/>
            <a:r>
              <a:rPr lang="en-IN" b="1" dirty="0"/>
              <a:t>Pandas</a:t>
            </a:r>
            <a:r>
              <a:rPr lang="en-IN" dirty="0"/>
              <a:t> - Data cleaning and manipulation</a:t>
            </a:r>
          </a:p>
          <a:p>
            <a:pPr lvl="0"/>
            <a:r>
              <a:rPr lang="en-IN" b="1" dirty="0"/>
              <a:t>NumPy</a:t>
            </a:r>
            <a:r>
              <a:rPr lang="en-IN" dirty="0"/>
              <a:t> - Numerical and mathematical operations</a:t>
            </a:r>
          </a:p>
          <a:p>
            <a:pPr lvl="0"/>
            <a:r>
              <a:rPr lang="en-IN" b="1" dirty="0"/>
              <a:t>Matplotlib &amp; Seaborn</a:t>
            </a:r>
            <a:r>
              <a:rPr lang="en-IN" dirty="0"/>
              <a:t> - Data visualization</a:t>
            </a:r>
          </a:p>
          <a:p>
            <a:pPr lvl="0"/>
            <a:r>
              <a:rPr lang="en-IN" b="1" dirty="0"/>
              <a:t>Google </a:t>
            </a:r>
            <a:r>
              <a:rPr lang="en-IN" b="1" dirty="0" err="1"/>
              <a:t>Colab</a:t>
            </a:r>
            <a:r>
              <a:rPr lang="en-IN" b="1" dirty="0"/>
              <a:t> - </a:t>
            </a:r>
            <a:r>
              <a:rPr lang="en-IN" dirty="0"/>
              <a:t>Interactive coding and narrative text</a:t>
            </a:r>
          </a:p>
          <a:p>
            <a:pPr lvl="0"/>
            <a:r>
              <a:rPr lang="en-IN" b="1" dirty="0"/>
              <a:t>GitHub</a:t>
            </a:r>
            <a:r>
              <a:rPr lang="en-IN" dirty="0"/>
              <a:t> - Version control and project repository</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511AF7C1-851E-7BB4-CF48-1F4F6E16A4C5}"/>
              </a:ext>
            </a:extLst>
          </p:cNvPr>
          <p:cNvPicPr>
            <a:picLocks noChangeAspect="1"/>
          </p:cNvPicPr>
          <p:nvPr/>
        </p:nvPicPr>
        <p:blipFill>
          <a:blip r:embed="rId3"/>
          <a:stretch>
            <a:fillRect/>
          </a:stretch>
        </p:blipFill>
        <p:spPr>
          <a:xfrm>
            <a:off x="675957" y="1275371"/>
            <a:ext cx="6254508" cy="4425705"/>
          </a:xfrm>
          <a:prstGeom prst="rect">
            <a:avLst/>
          </a:prstGeom>
        </p:spPr>
      </p:pic>
      <p:sp>
        <p:nvSpPr>
          <p:cNvPr id="6" name="TextBox 5">
            <a:extLst>
              <a:ext uri="{FF2B5EF4-FFF2-40B4-BE49-F238E27FC236}">
                <a16:creationId xmlns:a16="http://schemas.microsoft.com/office/drawing/2014/main" id="{6DB84877-C449-4B60-28F6-9114858984F4}"/>
              </a:ext>
            </a:extLst>
          </p:cNvPr>
          <p:cNvSpPr txBox="1"/>
          <p:nvPr/>
        </p:nvSpPr>
        <p:spPr>
          <a:xfrm>
            <a:off x="675957" y="5910349"/>
            <a:ext cx="8551170" cy="830997"/>
          </a:xfrm>
          <a:prstGeom prst="rect">
            <a:avLst/>
          </a:prstGeom>
          <a:noFill/>
        </p:spPr>
        <p:txBody>
          <a:bodyPr wrap="square" rtlCol="0">
            <a:spAutoFit/>
          </a:bodyPr>
          <a:lstStyle/>
          <a:p>
            <a:r>
              <a:rPr lang="en-IN" sz="1600" dirty="0"/>
              <a:t>This bar chart illustrates the frequency of farming activities across different seasons. The data shows that the majority of agricultural records occur during the </a:t>
            </a:r>
            <a:r>
              <a:rPr lang="en-IN" sz="1600" b="1" dirty="0"/>
              <a:t>Kharif</a:t>
            </a:r>
            <a:r>
              <a:rPr lang="en-IN" sz="1600" dirty="0"/>
              <a:t> and </a:t>
            </a:r>
            <a:r>
              <a:rPr lang="en-IN" sz="1600" b="1" dirty="0"/>
              <a:t>Rabi</a:t>
            </a:r>
            <a:r>
              <a:rPr lang="en-IN" sz="1600" dirty="0"/>
              <a:t> seasons, with significantly fewer activities recorded during the </a:t>
            </a:r>
            <a:r>
              <a:rPr lang="en-IN" sz="1600" b="1" dirty="0"/>
              <a:t>Zaid</a:t>
            </a:r>
            <a:r>
              <a:rPr lang="en-IN" sz="1600" dirty="0"/>
              <a:t> season.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8584434F-7613-5C66-47DA-594ABA24CD2A}"/>
              </a:ext>
            </a:extLst>
          </p:cNvPr>
          <p:cNvPicPr>
            <a:picLocks noChangeAspect="1"/>
          </p:cNvPicPr>
          <p:nvPr/>
        </p:nvPicPr>
        <p:blipFill>
          <a:blip r:embed="rId3"/>
          <a:stretch>
            <a:fillRect/>
          </a:stretch>
        </p:blipFill>
        <p:spPr>
          <a:xfrm>
            <a:off x="675957" y="1275371"/>
            <a:ext cx="8997714" cy="4425705"/>
          </a:xfrm>
          <a:prstGeom prst="rect">
            <a:avLst/>
          </a:prstGeom>
        </p:spPr>
      </p:pic>
      <p:sp>
        <p:nvSpPr>
          <p:cNvPr id="12" name="TextBox 11">
            <a:extLst>
              <a:ext uri="{FF2B5EF4-FFF2-40B4-BE49-F238E27FC236}">
                <a16:creationId xmlns:a16="http://schemas.microsoft.com/office/drawing/2014/main" id="{5CAC9A52-59FD-F5C3-2A30-4A4F576F55F5}"/>
              </a:ext>
            </a:extLst>
          </p:cNvPr>
          <p:cNvSpPr txBox="1"/>
          <p:nvPr/>
        </p:nvSpPr>
        <p:spPr>
          <a:xfrm>
            <a:off x="989215" y="5594465"/>
            <a:ext cx="8387541" cy="1077218"/>
          </a:xfrm>
          <a:prstGeom prst="rect">
            <a:avLst/>
          </a:prstGeom>
          <a:noFill/>
        </p:spPr>
        <p:txBody>
          <a:bodyPr wrap="square" rtlCol="0">
            <a:spAutoFit/>
          </a:bodyPr>
          <a:lstStyle/>
          <a:p>
            <a:r>
              <a:rPr lang="en-IN" sz="1600" dirty="0"/>
              <a:t>This visualization displays the variety of crops cultivated in the dataset. </a:t>
            </a:r>
            <a:r>
              <a:rPr lang="en-IN" sz="1600" b="1" dirty="0"/>
              <a:t>Rice</a:t>
            </a:r>
            <a:r>
              <a:rPr lang="en-IN" sz="1600" dirty="0"/>
              <a:t> and </a:t>
            </a:r>
            <a:r>
              <a:rPr lang="en-IN" sz="1600" b="1" dirty="0"/>
              <a:t>Wheat</a:t>
            </a:r>
            <a:r>
              <a:rPr lang="en-IN" sz="1600" dirty="0"/>
              <a:t> are the most widely grown crops, followed closely by Maize and Cotton, indicating a strong preference or environmental suitability for these staple crops among the recorded farms.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74A34A8B-C834-C86E-2127-3F8FEA7E5D0C}"/>
              </a:ext>
            </a:extLst>
          </p:cNvPr>
          <p:cNvPicPr>
            <a:picLocks noChangeAspect="1"/>
          </p:cNvPicPr>
          <p:nvPr/>
        </p:nvPicPr>
        <p:blipFill>
          <a:blip r:embed="rId3"/>
          <a:stretch>
            <a:fillRect/>
          </a:stretch>
        </p:blipFill>
        <p:spPr>
          <a:xfrm>
            <a:off x="675957" y="1156924"/>
            <a:ext cx="7168910" cy="4425705"/>
          </a:xfrm>
          <a:prstGeom prst="rect">
            <a:avLst/>
          </a:prstGeom>
        </p:spPr>
      </p:pic>
      <p:sp>
        <p:nvSpPr>
          <p:cNvPr id="12" name="TextBox 11">
            <a:extLst>
              <a:ext uri="{FF2B5EF4-FFF2-40B4-BE49-F238E27FC236}">
                <a16:creationId xmlns:a16="http://schemas.microsoft.com/office/drawing/2014/main" id="{E8D10530-72E3-73C1-9BF2-65C895AAC847}"/>
              </a:ext>
            </a:extLst>
          </p:cNvPr>
          <p:cNvSpPr txBox="1"/>
          <p:nvPr/>
        </p:nvSpPr>
        <p:spPr>
          <a:xfrm>
            <a:off x="972589" y="5677593"/>
            <a:ext cx="8321040" cy="1077218"/>
          </a:xfrm>
          <a:prstGeom prst="rect">
            <a:avLst/>
          </a:prstGeom>
          <a:noFill/>
        </p:spPr>
        <p:txBody>
          <a:bodyPr wrap="square" rtlCol="0">
            <a:spAutoFit/>
          </a:bodyPr>
          <a:lstStyle/>
          <a:p>
            <a:r>
              <a:rPr lang="en-IN" sz="1600" dirty="0"/>
              <a:t>This histogram highlights the yield output in tonnes per hectare. The distribution is heavily </a:t>
            </a:r>
            <a:r>
              <a:rPr lang="en-IN" sz="1600" b="1" dirty="0"/>
              <a:t>right-skewed</a:t>
            </a:r>
            <a:r>
              <a:rPr lang="en-IN" sz="1600" dirty="0"/>
              <a:t>, meaning that while most farms produce a moderate-to-low yield per hectare, there is a small segment of highly productive farms achieving exceptionally high yields.</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05FF51FD-8DE6-CA72-07C1-EC712FE97471}"/>
              </a:ext>
            </a:extLst>
          </p:cNvPr>
          <p:cNvPicPr>
            <a:picLocks noChangeAspect="1"/>
          </p:cNvPicPr>
          <p:nvPr/>
        </p:nvPicPr>
        <p:blipFill>
          <a:blip r:embed="rId3"/>
          <a:stretch>
            <a:fillRect/>
          </a:stretch>
        </p:blipFill>
        <p:spPr>
          <a:xfrm>
            <a:off x="607930" y="1201586"/>
            <a:ext cx="7168910" cy="4425705"/>
          </a:xfrm>
          <a:prstGeom prst="rect">
            <a:avLst/>
          </a:prstGeom>
        </p:spPr>
      </p:pic>
      <p:sp>
        <p:nvSpPr>
          <p:cNvPr id="12" name="TextBox 11">
            <a:extLst>
              <a:ext uri="{FF2B5EF4-FFF2-40B4-BE49-F238E27FC236}">
                <a16:creationId xmlns:a16="http://schemas.microsoft.com/office/drawing/2014/main" id="{588C5DF1-9936-5F1A-13FB-80B900F4895B}"/>
              </a:ext>
            </a:extLst>
          </p:cNvPr>
          <p:cNvSpPr txBox="1"/>
          <p:nvPr/>
        </p:nvSpPr>
        <p:spPr>
          <a:xfrm>
            <a:off x="675957" y="5561215"/>
            <a:ext cx="8451417" cy="1077218"/>
          </a:xfrm>
          <a:prstGeom prst="rect">
            <a:avLst/>
          </a:prstGeom>
          <a:noFill/>
        </p:spPr>
        <p:txBody>
          <a:bodyPr wrap="square" rtlCol="0">
            <a:spAutoFit/>
          </a:bodyPr>
          <a:lstStyle/>
          <a:p>
            <a:r>
              <a:rPr lang="en-IN" sz="1600" dirty="0"/>
              <a:t>This chart shows the economic performance of the farms in INR. The profit distribution peaks near the zero mark, indicating that a large number of farms are just breaking even or making a marginal profit. However, the wide "tails" on both sides show high variance, meaning there are instances of both severe financial losses and substantial profits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675956" y="5396234"/>
            <a:ext cx="8393229" cy="1172206"/>
          </a:xfrm>
        </p:spPr>
        <p:txBody>
          <a:bodyPr>
            <a:noAutofit/>
          </a:bodyPr>
          <a:lstStyle/>
          <a:p>
            <a:pPr marL="0" indent="0">
              <a:buNone/>
            </a:pPr>
            <a:r>
              <a:rPr lang="en-IN" sz="1600" dirty="0"/>
              <a:t>This scatter plot explores the relationship between environmental conditions (rainfall) and agricultural performance (yield). It highlights distinct weather patterns, such as the Kharif season experiencing significantly higher rainfall. Crucially, the chart demonstrates that maximum rainfall does not guarantee the highest yield; many of the peak yields occur at moderate rainfall levels. </a:t>
            </a:r>
          </a:p>
        </p:txBody>
      </p:sp>
      <p:pic>
        <p:nvPicPr>
          <p:cNvPr id="3" name="Picture 2">
            <a:extLst>
              <a:ext uri="{FF2B5EF4-FFF2-40B4-BE49-F238E27FC236}">
                <a16:creationId xmlns:a16="http://schemas.microsoft.com/office/drawing/2014/main" id="{C2C063C6-1BED-71FA-BC20-2AA8BA8FD88D}"/>
              </a:ext>
            </a:extLst>
          </p:cNvPr>
          <p:cNvPicPr>
            <a:picLocks noChangeAspect="1"/>
          </p:cNvPicPr>
          <p:nvPr/>
        </p:nvPicPr>
        <p:blipFill>
          <a:blip r:embed="rId3"/>
          <a:stretch>
            <a:fillRect/>
          </a:stretch>
        </p:blipFill>
        <p:spPr>
          <a:xfrm>
            <a:off x="675957" y="1201586"/>
            <a:ext cx="7079818" cy="419464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777413"/>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3A019237-2F27-8774-1236-C4B19684296D}"/>
              </a:ext>
            </a:extLst>
          </p:cNvPr>
          <p:cNvSpPr txBox="1"/>
          <p:nvPr/>
        </p:nvSpPr>
        <p:spPr>
          <a:xfrm>
            <a:off x="675957" y="2015234"/>
            <a:ext cx="8645237" cy="3139321"/>
          </a:xfrm>
          <a:prstGeom prst="rect">
            <a:avLst/>
          </a:prstGeom>
          <a:noFill/>
        </p:spPr>
        <p:txBody>
          <a:bodyPr wrap="square" rtlCol="0">
            <a:spAutoFit/>
          </a:bodyPr>
          <a:lstStyle/>
          <a:p>
            <a:r>
              <a:rPr lang="en-IN" sz="2000" b="1" dirty="0"/>
              <a:t>Predictive </a:t>
            </a:r>
            <a:r>
              <a:rPr lang="en-IN" sz="2000" b="1" dirty="0" err="1"/>
              <a:t>Modeling</a:t>
            </a:r>
            <a:r>
              <a:rPr lang="en-IN" sz="2000" b="1" dirty="0"/>
              <a:t> - </a:t>
            </a:r>
            <a:r>
              <a:rPr lang="en-IN" sz="2000" dirty="0"/>
              <a:t>Implementing Machine Learning algorithms to forecast future crop yields based on historical seasonal data and environmental variables.</a:t>
            </a:r>
          </a:p>
          <a:p>
            <a:r>
              <a:rPr lang="en-IN" sz="2000" b="1" dirty="0"/>
              <a:t>Real-time Integration - </a:t>
            </a:r>
            <a:r>
              <a:rPr lang="en-IN" sz="2000" dirty="0"/>
              <a:t>Connecting the analysis pipeline with live IoT sensor data for real-time monitoring of soil moisture, temperature, and weather.</a:t>
            </a:r>
          </a:p>
          <a:p>
            <a:r>
              <a:rPr lang="en-IN" sz="2000" b="1" dirty="0"/>
              <a:t>Interactive Dashboards - </a:t>
            </a:r>
            <a:r>
              <a:rPr lang="en-IN" sz="2000" dirty="0"/>
              <a:t>Developing dynamic BI dashboards (e.g., using Tableau or </a:t>
            </a:r>
            <a:r>
              <a:rPr lang="en-IN" sz="2000" dirty="0" err="1"/>
              <a:t>PowerBI</a:t>
            </a:r>
            <a:r>
              <a:rPr lang="en-IN" sz="2000" dirty="0"/>
              <a:t>) to allow stakeholders to filter patterns by region and season interactively.</a:t>
            </a:r>
          </a:p>
          <a:p>
            <a:endParaRPr lang="en-IN" sz="16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1388</TotalTime>
  <Words>673</Words>
  <Application>Microsoft Office PowerPoint</Application>
  <PresentationFormat>Widescreen</PresentationFormat>
  <Paragraphs>40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Project Description  Data-Driven Farming Insights  This project is based on the requirements defined in "Major Project Seasonal Agriculture Performance Analysis " and utilizes the "seasonal agriculture performance dataset". The dataset represents agricultural activities across different seasons, geographical areas, and farming conditions. It tracks resource usage, environmental factors, and economic performance. By performing comprehensive data cleaning, exploratory data analysis (EDA), and statistical comparisons, this project aims to support evidence-based agricultural planning and identify significant areas requiring further investigation.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Aahan Vishwakarma</cp:lastModifiedBy>
  <cp:revision>99</cp:revision>
  <dcterms:created xsi:type="dcterms:W3CDTF">2021-07-11T13:13:15Z</dcterms:created>
  <dcterms:modified xsi:type="dcterms:W3CDTF">2026-09-07T18:31:06Z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